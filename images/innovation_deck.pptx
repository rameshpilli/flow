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everyone. I've got 20 minutes, so I'll keep this tight.
The Innovation stream exists to do three things. One — we watch what's happening in the open-source AI agent ecosystem. Two — we evaluate what's actually worth bringing in. And three — we build tooling on top of it that makes every team in this organization faster.
We're not building science projects. We're building infrastructure. Things other teams can use today, and that get smarter over time.
I'm going to walk you through how we think about this, what we've built so far, and where we're headed.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(90 sec):
A year ago, everyone obsessed with prompt engineering — phrasing things the right way. That era is over. The shift is to context engineering: what matters is what information the agent has access to. Same agent + better context = dramatically better output. This is the backbone of everything we build — centralized skills, org knowledge, global setup.
EVALUATION FRAMEWORK (60 sec):
Four criteria. Deployable — can we run it today? Cross-team — serves more than one team? Forward path — roadmap aligns with industry? Community health — active and growing?
Community health is the most important. The future is unpredictable. We can't predict where this goes. So instead of predicting, we follow where the community is converging. The community is our signal. We don't fight the current, we ride it.
AGENT LOOP (60 sec):
Every AI agent works this way — a loop. Prompt, pick tool, execute, observe, repeat. Claude Agent SDK gives agents real system tools: Bash for shell commands, Grep/Glob for file search, Read/Write for file access, web search. Plus subagents for parallel work — high-power model does deep thinking, delegates menial tasks to faster/cheaper models. Keep this loop in your head — everything we build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OPENCODE (2.5 min):
Open-source project we evaluated — Claude Code-like capabilities on a VM. Full agent loop with real system tools: grep, edit files, shell commands, git.
Problem: current workflow is SSH, sudo, start TUI manually, WinSCP for files. Single user. Painful.
Target: always-on HTTP service, systemd, port 4096. REST API, TypeScript SDK, SSE streaming, OpenAPI spec. Any agent, developer, CI/CD pipeline sends a task with one HTTP call.
No SSH. No sudo. No WinSCP. Just HTTP. This is the foundational piece.
OPENCOWORK (2.5 min):
Built on Claude Agent SDK, deployed on K8s. User submits request → agent executes → output to S3.
Skills layer: Jira sprint reports, tearsheet generation with CapIQ MCP. Skills = reusable SOPs for agents.
Building toward centralized skills — org-level global setup. Like ~/.claude/ but for the whole org. Any team contributes a skill, any agent uses it.
Target: integrated into UI, users generate PDF/PPTX directly.
OPENWORK (3 min):
Ties it together. OpenCode for execution, Agent SDK under the hood.
Key insight: current agent tooling is tightly coupled. Lots of glue code. OpenWork decouples UI from server — two pods, REST API between them.
New paradigm: UI capabilities driven by agent tech stack, not the other way around. Backend evolves, UI automatically gets more powerful. You don't redesign UI when backend changes.
Future: Electron app on desktop, point to our URL, get all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K8S SANDBOXES (90 sec):
Right now, agents run on developer VMs — isolation isn't great. K8s sandboxes: ephemeral environment per task. Agent works, produces output, sandbox destroyed. Clean, isolated, scalable. 50 agents = 50 pods.
GAS TOWN (2 min):
Steve Yegge's multi-agent orchestrator. Kubernetes for agents — asks 'is it done?' not 'is it running?'
Mayor coordinates. Polecats are ephemeral workers — each a Claude Code session. Refinery manages merge queue. Witness monitors health. Beads = git-backed task tracking.
Early and rough — Yegge says don't use it yet. But architecture is sound. Anthropic productizing same patterns: Agent Teams in Claude Code.
K8s operator exists. Vision: queue 50 tasks, 50 pods, close laptop, come back to PRs.
Passes our framework: Deployable on K8s, cross-team, forward-looking, growing community.
ORG KNOWLEDGE (90 sec) — THIS IS YOUR STRONGEST CLOSER:
Right now every agent starts from scratch. Doesn't know we tried Redis and it OOM'd. Every agent is a new hire with amnesia.
We're building: every completed task = lesson learned. Searchable knowledge base across projects and time.
Smartest version is zero-effort. Agent picks up task → system auto-searches past work → injects relevant context. Agent starts already informed.
Goal: never repeat a mistake the org already made. Every agent smarter than the last.
CLOSE (2 min):
Summary: Direction — follow community, evaluate with discipline. Projects — OpenCode (execution), OpenCoWork (skills), OpenWork (decoupled UI). Forward — sandboxes, orchestration, org knowledge.
[STATE YOUR ASK — what do you need from the room?]
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1097280"/>
            <a:ext cx="768096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Innovation Stream</a:t>
            </a:r>
            <a:endParaRPr lang="en-US" sz="4400" dirty="0"/>
          </a:p>
        </p:txBody>
      </p:sp>
      <p:sp>
        <p:nvSpPr>
          <p:cNvPr id="4" name="Text 2"/>
          <p:cNvSpPr/>
          <p:nvPr/>
        </p:nvSpPr>
        <p:spPr>
          <a:xfrm>
            <a:off x="731520" y="2148840"/>
            <a:ext cx="7680960" cy="548640"/>
          </a:xfrm>
          <a:prstGeom prst="rect">
            <a:avLst/>
          </a:prstGeom>
          <a:noFill/>
          <a:ln/>
        </p:spPr>
        <p:txBody>
          <a:bodyPr wrap="square" lIns="0" tIns="0" rIns="0" bIns="0" rtlCol="0" anchor="ctr"/>
          <a:lstStyle/>
          <a:p>
            <a:pPr indent="0" marL="0">
              <a:buNone/>
            </a:pPr>
            <a:r>
              <a:rPr lang="en-US" sz="2000" dirty="0">
                <a:solidFill>
                  <a:srgbClr val="0D9488"/>
                </a:solidFill>
                <a:latin typeface="Calibri" pitchFamily="34" charset="0"/>
                <a:ea typeface="Calibri" pitchFamily="34" charset="-122"/>
                <a:cs typeface="Calibri" pitchFamily="34" charset="-120"/>
              </a:rPr>
              <a:t>Direction  ·  Current Projects  ·  Forward Look</a:t>
            </a:r>
            <a:endParaRPr lang="en-US" sz="2000" dirty="0"/>
          </a:p>
        </p:txBody>
      </p:sp>
      <p:sp>
        <p:nvSpPr>
          <p:cNvPr id="5" name="Text 3"/>
          <p:cNvSpPr/>
          <p:nvPr/>
        </p:nvSpPr>
        <p:spPr>
          <a:xfrm>
            <a:off x="731520" y="3063240"/>
            <a:ext cx="731520" cy="502920"/>
          </a:xfrm>
          <a:prstGeom prst="rect">
            <a:avLst/>
          </a:prstGeom>
          <a:noFill/>
          <a:ln/>
        </p:spPr>
        <p:txBody>
          <a:bodyPr wrap="square" lIns="0" tIns="0" rIns="0" bIns="0" rtlCol="0" anchor="ctr"/>
          <a:lstStyle/>
          <a:p>
            <a:pPr indent="0" marL="0">
              <a:buNone/>
            </a:pPr>
            <a:r>
              <a:rPr lang="en-US" sz="2800" b="1" dirty="0">
                <a:solidFill>
                  <a:srgbClr val="0D9488"/>
                </a:solidFill>
                <a:latin typeface="Trebuchet MS" pitchFamily="34" charset="0"/>
                <a:ea typeface="Trebuchet MS" pitchFamily="34" charset="-122"/>
                <a:cs typeface="Trebuchet MS" pitchFamily="34" charset="-120"/>
              </a:rPr>
              <a:t>01</a:t>
            </a:r>
            <a:endParaRPr lang="en-US" sz="2800" dirty="0"/>
          </a:p>
        </p:txBody>
      </p:sp>
      <p:sp>
        <p:nvSpPr>
          <p:cNvPr id="6" name="Text 4"/>
          <p:cNvSpPr/>
          <p:nvPr/>
        </p:nvSpPr>
        <p:spPr>
          <a:xfrm>
            <a:off x="731520" y="3566160"/>
            <a:ext cx="237744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How We Think</a:t>
            </a:r>
            <a:endParaRPr lang="en-US" sz="1600" dirty="0"/>
          </a:p>
        </p:txBody>
      </p:sp>
      <p:sp>
        <p:nvSpPr>
          <p:cNvPr id="7" name="Text 5"/>
          <p:cNvSpPr/>
          <p:nvPr/>
        </p:nvSpPr>
        <p:spPr>
          <a:xfrm>
            <a:off x="731520" y="3931920"/>
            <a:ext cx="2377440" cy="640080"/>
          </a:xfrm>
          <a:prstGeom prst="rect">
            <a:avLst/>
          </a:prstGeom>
          <a:noFill/>
          <a:ln/>
        </p:spPr>
        <p:txBody>
          <a:bodyPr wrap="square" lIns="0" tIns="0" rIns="0" bIns="0" rtlCol="0" anchor="ctr"/>
          <a:lstStyle/>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Agent loop, context engineering,</a:t>
            </a: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open-source evaluation</a:t>
            </a:r>
            <a:endParaRPr lang="en-US" sz="1200" dirty="0"/>
          </a:p>
        </p:txBody>
      </p:sp>
      <p:sp>
        <p:nvSpPr>
          <p:cNvPr id="8" name="Text 6"/>
          <p:cNvSpPr/>
          <p:nvPr/>
        </p:nvSpPr>
        <p:spPr>
          <a:xfrm>
            <a:off x="3474720" y="3063240"/>
            <a:ext cx="731520" cy="502920"/>
          </a:xfrm>
          <a:prstGeom prst="rect">
            <a:avLst/>
          </a:prstGeom>
          <a:noFill/>
          <a:ln/>
        </p:spPr>
        <p:txBody>
          <a:bodyPr wrap="square" lIns="0" tIns="0" rIns="0" bIns="0" rtlCol="0" anchor="ctr"/>
          <a:lstStyle/>
          <a:p>
            <a:pPr indent="0" marL="0">
              <a:buNone/>
            </a:pPr>
            <a:r>
              <a:rPr lang="en-US" sz="2800" b="1" dirty="0">
                <a:solidFill>
                  <a:srgbClr val="0D9488"/>
                </a:solidFill>
                <a:latin typeface="Trebuchet MS" pitchFamily="34" charset="0"/>
                <a:ea typeface="Trebuchet MS" pitchFamily="34" charset="-122"/>
                <a:cs typeface="Trebuchet MS" pitchFamily="34" charset="-120"/>
              </a:rPr>
              <a:t>02</a:t>
            </a:r>
            <a:endParaRPr lang="en-US" sz="2800" dirty="0"/>
          </a:p>
        </p:txBody>
      </p:sp>
      <p:sp>
        <p:nvSpPr>
          <p:cNvPr id="9" name="Text 7"/>
          <p:cNvSpPr/>
          <p:nvPr/>
        </p:nvSpPr>
        <p:spPr>
          <a:xfrm>
            <a:off x="3474720" y="3566160"/>
            <a:ext cx="237744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What We've Built</a:t>
            </a:r>
            <a:endParaRPr lang="en-US" sz="1600" dirty="0"/>
          </a:p>
        </p:txBody>
      </p:sp>
      <p:sp>
        <p:nvSpPr>
          <p:cNvPr id="10" name="Text 8"/>
          <p:cNvSpPr/>
          <p:nvPr/>
        </p:nvSpPr>
        <p:spPr>
          <a:xfrm>
            <a:off x="3474720" y="3931920"/>
            <a:ext cx="2377440" cy="640080"/>
          </a:xfrm>
          <a:prstGeom prst="rect">
            <a:avLst/>
          </a:prstGeom>
          <a:noFill/>
          <a:ln/>
        </p:spPr>
        <p:txBody>
          <a:bodyPr wrap="square" lIns="0" tIns="0" rIns="0" bIns="0" rtlCol="0" anchor="ctr"/>
          <a:lstStyle/>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OpenCode, OpenCoWork,</a:t>
            </a: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OpenWork</a:t>
            </a:r>
            <a:endParaRPr lang="en-US" sz="1200" dirty="0"/>
          </a:p>
        </p:txBody>
      </p:sp>
      <p:sp>
        <p:nvSpPr>
          <p:cNvPr id="11" name="Text 9"/>
          <p:cNvSpPr/>
          <p:nvPr/>
        </p:nvSpPr>
        <p:spPr>
          <a:xfrm>
            <a:off x="6217920" y="3063240"/>
            <a:ext cx="731520" cy="502920"/>
          </a:xfrm>
          <a:prstGeom prst="rect">
            <a:avLst/>
          </a:prstGeom>
          <a:noFill/>
          <a:ln/>
        </p:spPr>
        <p:txBody>
          <a:bodyPr wrap="square" lIns="0" tIns="0" rIns="0" bIns="0" rtlCol="0" anchor="ctr"/>
          <a:lstStyle/>
          <a:p>
            <a:pPr indent="0" marL="0">
              <a:buNone/>
            </a:pPr>
            <a:r>
              <a:rPr lang="en-US" sz="2800" b="1" dirty="0">
                <a:solidFill>
                  <a:srgbClr val="0D9488"/>
                </a:solidFill>
                <a:latin typeface="Trebuchet MS" pitchFamily="34" charset="0"/>
                <a:ea typeface="Trebuchet MS" pitchFamily="34" charset="-122"/>
                <a:cs typeface="Trebuchet MS" pitchFamily="34" charset="-120"/>
              </a:rPr>
              <a:t>03</a:t>
            </a:r>
            <a:endParaRPr lang="en-US" sz="2800" dirty="0"/>
          </a:p>
        </p:txBody>
      </p:sp>
      <p:sp>
        <p:nvSpPr>
          <p:cNvPr id="12" name="Text 10"/>
          <p:cNvSpPr/>
          <p:nvPr/>
        </p:nvSpPr>
        <p:spPr>
          <a:xfrm>
            <a:off x="6217920" y="3566160"/>
            <a:ext cx="237744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Where We're Going</a:t>
            </a:r>
            <a:endParaRPr lang="en-US" sz="1600" dirty="0"/>
          </a:p>
        </p:txBody>
      </p:sp>
      <p:sp>
        <p:nvSpPr>
          <p:cNvPr id="13" name="Text 11"/>
          <p:cNvSpPr/>
          <p:nvPr/>
        </p:nvSpPr>
        <p:spPr>
          <a:xfrm>
            <a:off x="6217920" y="3931920"/>
            <a:ext cx="2377440" cy="640080"/>
          </a:xfrm>
          <a:prstGeom prst="rect">
            <a:avLst/>
          </a:prstGeom>
          <a:noFill/>
          <a:ln/>
        </p:spPr>
        <p:txBody>
          <a:bodyPr wrap="square" lIns="0" tIns="0" rIns="0" bIns="0" rtlCol="0" anchor="ctr"/>
          <a:lstStyle/>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K8s sandboxes, Gas Town,</a:t>
            </a: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organizational knowledge</a:t>
            </a:r>
            <a:endParaRPr lang="en-US" sz="1200" dirty="0"/>
          </a:p>
        </p:txBody>
      </p:sp>
      <p:sp>
        <p:nvSpPr>
          <p:cNvPr id="14" name="Shape 12"/>
          <p:cNvSpPr/>
          <p:nvPr/>
        </p:nvSpPr>
        <p:spPr>
          <a:xfrm>
            <a:off x="3291840" y="3154680"/>
            <a:ext cx="0" cy="1280160"/>
          </a:xfrm>
          <a:prstGeom prst="line">
            <a:avLst/>
          </a:prstGeom>
          <a:noFill/>
          <a:ln w="12700">
            <a:solidFill>
              <a:srgbClr val="1B2A4A"/>
            </a:solidFill>
            <a:prstDash val="solid"/>
          </a:ln>
        </p:spPr>
      </p:sp>
      <p:sp>
        <p:nvSpPr>
          <p:cNvPr id="15" name="Shape 13"/>
          <p:cNvSpPr/>
          <p:nvPr/>
        </p:nvSpPr>
        <p:spPr>
          <a:xfrm>
            <a:off x="6035040" y="3154680"/>
            <a:ext cx="0" cy="1280160"/>
          </a:xfrm>
          <a:prstGeom prst="line">
            <a:avLst/>
          </a:prstGeom>
          <a:noFill/>
          <a:ln w="12700">
            <a:solidFill>
              <a:srgbClr val="1B2A4A"/>
            </a:solidFill>
            <a:prstDash val="solid"/>
          </a:ln>
        </p:spPr>
      </p:sp>
      <p:sp>
        <p:nvSpPr>
          <p:cNvPr id="16" name="Shape 14"/>
          <p:cNvSpPr/>
          <p:nvPr/>
        </p:nvSpPr>
        <p:spPr>
          <a:xfrm>
            <a:off x="0" y="5088636"/>
            <a:ext cx="9144000" cy="54864"/>
          </a:xfrm>
          <a:prstGeom prst="rect">
            <a:avLst/>
          </a:prstGeom>
          <a:solidFill>
            <a:srgbClr val="0D948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indent="0" marL="0">
              <a:buNone/>
            </a:pPr>
            <a:r>
              <a:rPr lang="en-US" sz="3000" b="1" dirty="0">
                <a:solidFill>
                  <a:srgbClr val="0F1729"/>
                </a:solidFill>
                <a:latin typeface="Trebuchet MS" pitchFamily="34" charset="0"/>
                <a:ea typeface="Trebuchet MS" pitchFamily="34" charset="-122"/>
                <a:cs typeface="Trebuchet MS" pitchFamily="34" charset="-120"/>
              </a:rPr>
              <a:t>How We Think About Innovation</a:t>
            </a:r>
            <a:endParaRPr lang="en-US" sz="3000" dirty="0"/>
          </a:p>
        </p:txBody>
      </p:sp>
      <p:sp>
        <p:nvSpPr>
          <p:cNvPr id="3" name="Shape 1"/>
          <p:cNvSpPr/>
          <p:nvPr/>
        </p:nvSpPr>
        <p:spPr>
          <a:xfrm>
            <a:off x="548640" y="1143000"/>
            <a:ext cx="3840480" cy="210312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4" name="Shape 2"/>
          <p:cNvSpPr/>
          <p:nvPr/>
        </p:nvSpPr>
        <p:spPr>
          <a:xfrm>
            <a:off x="548640" y="1143000"/>
            <a:ext cx="64008" cy="2103120"/>
          </a:xfrm>
          <a:prstGeom prst="rect">
            <a:avLst/>
          </a:prstGeom>
          <a:solidFill>
            <a:srgbClr val="0D9488"/>
          </a:solidFill>
          <a:ln/>
        </p:spPr>
      </p:sp>
      <p:sp>
        <p:nvSpPr>
          <p:cNvPr id="5" name="Text 3"/>
          <p:cNvSpPr/>
          <p:nvPr/>
        </p:nvSpPr>
        <p:spPr>
          <a:xfrm>
            <a:off x="822960" y="1280160"/>
            <a:ext cx="3383280" cy="45720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Context Engineering &gt; Prompt Engineering</a:t>
            </a:r>
            <a:endParaRPr lang="en-US" sz="1400" dirty="0"/>
          </a:p>
        </p:txBody>
      </p:sp>
      <p:sp>
        <p:nvSpPr>
          <p:cNvPr id="6" name="Text 4"/>
          <p:cNvSpPr/>
          <p:nvPr/>
        </p:nvSpPr>
        <p:spPr>
          <a:xfrm>
            <a:off x="822960" y="1783080"/>
            <a:ext cx="3383280" cy="1188720"/>
          </a:xfrm>
          <a:prstGeom prst="rect">
            <a:avLst/>
          </a:prstGeom>
          <a:noFill/>
          <a:ln/>
        </p:spPr>
        <p:txBody>
          <a:bodyPr wrap="square" lIns="0" tIns="0" rIns="0" bIns="0" rtlCol="0" anchor="ctr"/>
          <a:lstStyle/>
          <a:p>
            <a:pPr indent="0" marL="0">
              <a:lnSpc>
                <a:spcPct val="140000"/>
              </a:lnSpc>
              <a:buNone/>
            </a:pPr>
            <a:r>
              <a:rPr lang="en-US" sz="1200" b="1" dirty="0">
                <a:solidFill>
                  <a:srgbClr val="0F1729"/>
                </a:solidFill>
                <a:latin typeface="Calibri" pitchFamily="34" charset="0"/>
                <a:ea typeface="Calibri" pitchFamily="34" charset="-122"/>
                <a:cs typeface="Calibri" pitchFamily="34" charset="-120"/>
              </a:rPr>
              <a:t>It's not about how you ask the question.</a:t>
            </a:r>
            <a:endParaRPr lang="en-US" sz="1200" dirty="0"/>
          </a:p>
          <a:p>
            <a:pPr indent="0" marL="0">
              <a:lnSpc>
                <a:spcPct val="140000"/>
              </a:lnSpc>
              <a:buNone/>
            </a:pPr>
            <a:r>
              <a:rPr lang="en-US" sz="1200" b="1" dirty="0">
                <a:solidFill>
                  <a:srgbClr val="0F1729"/>
                </a:solidFill>
                <a:latin typeface="Calibri" pitchFamily="34" charset="0"/>
                <a:ea typeface="Calibri" pitchFamily="34" charset="-122"/>
                <a:cs typeface="Calibri" pitchFamily="34" charset="-120"/>
              </a:rPr>
              <a:t>It's about what the agent knows when it answers.</a:t>
            </a:r>
            <a:endParaRPr lang="en-US" sz="1200" dirty="0"/>
          </a:p>
          <a:p>
            <a:pPr indent="0" marL="0">
              <a:lnSpc>
                <a:spcPct val="140000"/>
              </a:lnSpc>
              <a:buNone/>
            </a:pPr>
            <a:endParaRPr lang="en-US" sz="1200" dirty="0"/>
          </a:p>
          <a:p>
            <a:pPr indent="0" marL="0">
              <a:lnSpc>
                <a:spcPct val="140000"/>
              </a:lnSpc>
              <a:buNone/>
            </a:pPr>
            <a:r>
              <a:rPr lang="en-US" sz="1200" i="1" dirty="0">
                <a:solidFill>
                  <a:srgbClr val="475569"/>
                </a:solidFill>
                <a:latin typeface="Calibri" pitchFamily="34" charset="0"/>
                <a:ea typeface="Calibri" pitchFamily="34" charset="-122"/>
                <a:cs typeface="Calibri" pitchFamily="34" charset="-120"/>
              </a:rPr>
              <a:t>Same agent + better context = dramatically better output.</a:t>
            </a:r>
            <a:endParaRPr lang="en-US" sz="1200" dirty="0"/>
          </a:p>
        </p:txBody>
      </p:sp>
      <p:sp>
        <p:nvSpPr>
          <p:cNvPr id="7" name="Shape 5"/>
          <p:cNvSpPr/>
          <p:nvPr/>
        </p:nvSpPr>
        <p:spPr>
          <a:xfrm>
            <a:off x="4754880" y="1143000"/>
            <a:ext cx="3840480" cy="210312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8" name="Shape 6"/>
          <p:cNvSpPr/>
          <p:nvPr/>
        </p:nvSpPr>
        <p:spPr>
          <a:xfrm>
            <a:off x="4754880" y="1143000"/>
            <a:ext cx="64008" cy="2103120"/>
          </a:xfrm>
          <a:prstGeom prst="rect">
            <a:avLst/>
          </a:prstGeom>
          <a:solidFill>
            <a:srgbClr val="F59E0B"/>
          </a:solidFill>
          <a:ln/>
        </p:spPr>
      </p:sp>
      <p:sp>
        <p:nvSpPr>
          <p:cNvPr id="9" name="Text 7"/>
          <p:cNvSpPr/>
          <p:nvPr/>
        </p:nvSpPr>
        <p:spPr>
          <a:xfrm>
            <a:off x="5029200" y="1280160"/>
            <a:ext cx="3383280" cy="365760"/>
          </a:xfrm>
          <a:prstGeom prst="rect">
            <a:avLst/>
          </a:prstGeom>
          <a:noFill/>
          <a:ln/>
        </p:spPr>
        <p:txBody>
          <a:bodyPr wrap="square" lIns="0" tIns="0" rIns="0" bIns="0" rtlCol="0" anchor="ctr"/>
          <a:lstStyle/>
          <a:p>
            <a:pPr indent="0" marL="0">
              <a:buNone/>
            </a:pPr>
            <a:r>
              <a:rPr lang="en-US" sz="1500" b="1" dirty="0">
                <a:solidFill>
                  <a:srgbClr val="F59E0B"/>
                </a:solidFill>
                <a:latin typeface="Trebuchet MS" pitchFamily="34" charset="0"/>
                <a:ea typeface="Trebuchet MS" pitchFamily="34" charset="-122"/>
                <a:cs typeface="Trebuchet MS" pitchFamily="34" charset="-120"/>
              </a:rPr>
              <a:t>Open-Source Evaluation Framework</a:t>
            </a:r>
            <a:endParaRPr lang="en-US" sz="1500" dirty="0"/>
          </a:p>
        </p:txBody>
      </p:sp>
      <p:sp>
        <p:nvSpPr>
          <p:cNvPr id="10" name="Text 8"/>
          <p:cNvSpPr/>
          <p:nvPr/>
        </p:nvSpPr>
        <p:spPr>
          <a:xfrm>
            <a:off x="5029200" y="1737360"/>
            <a:ext cx="1280160" cy="274320"/>
          </a:xfrm>
          <a:prstGeom prst="rect">
            <a:avLst/>
          </a:prstGeom>
          <a:noFill/>
          <a:ln/>
        </p:spPr>
        <p:txBody>
          <a:bodyPr wrap="square" lIns="0" tIns="0" rIns="0" bIns="0" rtlCol="0" anchor="ctr"/>
          <a:lstStyle/>
          <a:p>
            <a:pPr indent="0" marL="0">
              <a:buNone/>
            </a:pPr>
            <a:r>
              <a:rPr lang="en-US" sz="1200" b="1" dirty="0">
                <a:solidFill>
                  <a:srgbClr val="0F1729"/>
                </a:solidFill>
                <a:latin typeface="Trebuchet MS" pitchFamily="34" charset="0"/>
                <a:ea typeface="Trebuchet MS" pitchFamily="34" charset="-122"/>
                <a:cs typeface="Trebuchet MS" pitchFamily="34" charset="-120"/>
              </a:rPr>
              <a:t>Deployable</a:t>
            </a:r>
            <a:endParaRPr lang="en-US" sz="1200" dirty="0"/>
          </a:p>
        </p:txBody>
      </p:sp>
      <p:sp>
        <p:nvSpPr>
          <p:cNvPr id="11" name="Text 9"/>
          <p:cNvSpPr/>
          <p:nvPr/>
        </p:nvSpPr>
        <p:spPr>
          <a:xfrm>
            <a:off x="6309360" y="1737360"/>
            <a:ext cx="210312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Can we run it in our environment today?</a:t>
            </a:r>
            <a:endParaRPr lang="en-US" sz="1100" dirty="0"/>
          </a:p>
        </p:txBody>
      </p:sp>
      <p:sp>
        <p:nvSpPr>
          <p:cNvPr id="12" name="Text 10"/>
          <p:cNvSpPr/>
          <p:nvPr/>
        </p:nvSpPr>
        <p:spPr>
          <a:xfrm>
            <a:off x="5029200" y="2103120"/>
            <a:ext cx="1280160" cy="274320"/>
          </a:xfrm>
          <a:prstGeom prst="rect">
            <a:avLst/>
          </a:prstGeom>
          <a:noFill/>
          <a:ln/>
        </p:spPr>
        <p:txBody>
          <a:bodyPr wrap="square" lIns="0" tIns="0" rIns="0" bIns="0" rtlCol="0" anchor="ctr"/>
          <a:lstStyle/>
          <a:p>
            <a:pPr indent="0" marL="0">
              <a:buNone/>
            </a:pPr>
            <a:r>
              <a:rPr lang="en-US" sz="1200" b="1" dirty="0">
                <a:solidFill>
                  <a:srgbClr val="0F1729"/>
                </a:solidFill>
                <a:latin typeface="Trebuchet MS" pitchFamily="34" charset="0"/>
                <a:ea typeface="Trebuchet MS" pitchFamily="34" charset="-122"/>
                <a:cs typeface="Trebuchet MS" pitchFamily="34" charset="-120"/>
              </a:rPr>
              <a:t>Cross-team</a:t>
            </a:r>
            <a:endParaRPr lang="en-US" sz="1200" dirty="0"/>
          </a:p>
        </p:txBody>
      </p:sp>
      <p:sp>
        <p:nvSpPr>
          <p:cNvPr id="13" name="Text 11"/>
          <p:cNvSpPr/>
          <p:nvPr/>
        </p:nvSpPr>
        <p:spPr>
          <a:xfrm>
            <a:off x="6309360" y="2103120"/>
            <a:ext cx="210312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Serves more than one team?</a:t>
            </a:r>
            <a:endParaRPr lang="en-US" sz="1100" dirty="0"/>
          </a:p>
        </p:txBody>
      </p:sp>
      <p:sp>
        <p:nvSpPr>
          <p:cNvPr id="14" name="Text 12"/>
          <p:cNvSpPr/>
          <p:nvPr/>
        </p:nvSpPr>
        <p:spPr>
          <a:xfrm>
            <a:off x="5029200" y="2468880"/>
            <a:ext cx="1280160" cy="274320"/>
          </a:xfrm>
          <a:prstGeom prst="rect">
            <a:avLst/>
          </a:prstGeom>
          <a:noFill/>
          <a:ln/>
        </p:spPr>
        <p:txBody>
          <a:bodyPr wrap="square" lIns="0" tIns="0" rIns="0" bIns="0" rtlCol="0" anchor="ctr"/>
          <a:lstStyle/>
          <a:p>
            <a:pPr indent="0" marL="0">
              <a:buNone/>
            </a:pPr>
            <a:r>
              <a:rPr lang="en-US" sz="1200" b="1" dirty="0">
                <a:solidFill>
                  <a:srgbClr val="0F1729"/>
                </a:solidFill>
                <a:latin typeface="Trebuchet MS" pitchFamily="34" charset="0"/>
                <a:ea typeface="Trebuchet MS" pitchFamily="34" charset="-122"/>
                <a:cs typeface="Trebuchet MS" pitchFamily="34" charset="-120"/>
              </a:rPr>
              <a:t>Forward path</a:t>
            </a:r>
            <a:endParaRPr lang="en-US" sz="1200" dirty="0"/>
          </a:p>
        </p:txBody>
      </p:sp>
      <p:sp>
        <p:nvSpPr>
          <p:cNvPr id="15" name="Text 13"/>
          <p:cNvSpPr/>
          <p:nvPr/>
        </p:nvSpPr>
        <p:spPr>
          <a:xfrm>
            <a:off x="6309360" y="2468880"/>
            <a:ext cx="210312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Roadmap aligns with industry direction?</a:t>
            </a:r>
            <a:endParaRPr lang="en-US" sz="1100" dirty="0"/>
          </a:p>
        </p:txBody>
      </p:sp>
      <p:sp>
        <p:nvSpPr>
          <p:cNvPr id="16" name="Text 14"/>
          <p:cNvSpPr/>
          <p:nvPr/>
        </p:nvSpPr>
        <p:spPr>
          <a:xfrm>
            <a:off x="5029200" y="2834640"/>
            <a:ext cx="1280160" cy="274320"/>
          </a:xfrm>
          <a:prstGeom prst="rect">
            <a:avLst/>
          </a:prstGeom>
          <a:noFill/>
          <a:ln/>
        </p:spPr>
        <p:txBody>
          <a:bodyPr wrap="square" lIns="0" tIns="0" rIns="0" bIns="0" rtlCol="0" anchor="ctr"/>
          <a:lstStyle/>
          <a:p>
            <a:pPr indent="0" marL="0">
              <a:buNone/>
            </a:pPr>
            <a:r>
              <a:rPr lang="en-US" sz="1200" b="1" dirty="0">
                <a:solidFill>
                  <a:srgbClr val="0F1729"/>
                </a:solidFill>
                <a:latin typeface="Trebuchet MS" pitchFamily="34" charset="0"/>
                <a:ea typeface="Trebuchet MS" pitchFamily="34" charset="-122"/>
                <a:cs typeface="Trebuchet MS" pitchFamily="34" charset="-120"/>
              </a:rPr>
              <a:t>Community health</a:t>
            </a:r>
            <a:endParaRPr lang="en-US" sz="1200" dirty="0"/>
          </a:p>
        </p:txBody>
      </p:sp>
      <p:sp>
        <p:nvSpPr>
          <p:cNvPr id="17" name="Text 15"/>
          <p:cNvSpPr/>
          <p:nvPr/>
        </p:nvSpPr>
        <p:spPr>
          <a:xfrm>
            <a:off x="6309360" y="2834640"/>
            <a:ext cx="210312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Active, growing, pulling us forward?</a:t>
            </a:r>
            <a:endParaRPr lang="en-US" sz="1100" dirty="0"/>
          </a:p>
        </p:txBody>
      </p:sp>
      <p:sp>
        <p:nvSpPr>
          <p:cNvPr id="18" name="Shape 16"/>
          <p:cNvSpPr/>
          <p:nvPr/>
        </p:nvSpPr>
        <p:spPr>
          <a:xfrm>
            <a:off x="548640" y="3474720"/>
            <a:ext cx="8046720" cy="1417320"/>
          </a:xfrm>
          <a:prstGeom prst="rect">
            <a:avLst/>
          </a:prstGeom>
          <a:solidFill>
            <a:srgbClr val="0F1729"/>
          </a:solidFill>
          <a:ln/>
          <a:effectLst>
            <a:outerShdw sx="100000" sy="100000" kx="0" ky="0" algn="bl" rotWithShape="0" blurRad="50800" dist="25400" dir="8100000">
              <a:srgbClr val="000000">
                <a:alpha val="8000"/>
              </a:srgbClr>
            </a:outerShdw>
          </a:effectLst>
        </p:spPr>
      </p:sp>
      <p:sp>
        <p:nvSpPr>
          <p:cNvPr id="19" name="Text 17"/>
          <p:cNvSpPr/>
          <p:nvPr/>
        </p:nvSpPr>
        <p:spPr>
          <a:xfrm>
            <a:off x="822960" y="3566160"/>
            <a:ext cx="5486400" cy="32004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The Agent Loop — Every tool we build follows this pattern</a:t>
            </a:r>
            <a:endParaRPr lang="en-US" sz="1300" dirty="0"/>
          </a:p>
        </p:txBody>
      </p:sp>
      <p:sp>
        <p:nvSpPr>
          <p:cNvPr id="20" name="Shape 18"/>
          <p:cNvSpPr/>
          <p:nvPr/>
        </p:nvSpPr>
        <p:spPr>
          <a:xfrm>
            <a:off x="822960" y="3977640"/>
            <a:ext cx="1188720" cy="548640"/>
          </a:xfrm>
          <a:prstGeom prst="roundRect">
            <a:avLst>
              <a:gd name="adj" fmla="val 25000"/>
            </a:avLst>
          </a:prstGeom>
          <a:solidFill>
            <a:srgbClr val="0D9488">
              <a:alpha val="85000"/>
            </a:srgbClr>
          </a:solidFill>
          <a:ln w="19050">
            <a:solidFill>
              <a:srgbClr val="0D9488"/>
            </a:solidFill>
            <a:prstDash val="solid"/>
          </a:ln>
        </p:spPr>
      </p:sp>
      <p:sp>
        <p:nvSpPr>
          <p:cNvPr id="21" name="Text 19"/>
          <p:cNvSpPr/>
          <p:nvPr/>
        </p:nvSpPr>
        <p:spPr>
          <a:xfrm>
            <a:off x="822960" y="397764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Prompt</a:t>
            </a:r>
            <a:endParaRPr lang="en-US" sz="1300" dirty="0"/>
          </a:p>
        </p:txBody>
      </p:sp>
      <p:sp>
        <p:nvSpPr>
          <p:cNvPr id="22" name="Text 20"/>
          <p:cNvSpPr/>
          <p:nvPr/>
        </p:nvSpPr>
        <p:spPr>
          <a:xfrm>
            <a:off x="2011680" y="3977640"/>
            <a:ext cx="411480" cy="54864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2423160" y="3977640"/>
            <a:ext cx="1188720" cy="548640"/>
          </a:xfrm>
          <a:prstGeom prst="roundRect">
            <a:avLst>
              <a:gd name="adj" fmla="val 25000"/>
            </a:avLst>
          </a:prstGeom>
          <a:solidFill>
            <a:srgbClr val="F59E0B">
              <a:alpha val="85000"/>
            </a:srgbClr>
          </a:solidFill>
          <a:ln w="19050">
            <a:solidFill>
              <a:srgbClr val="F59E0B"/>
            </a:solidFill>
            <a:prstDash val="solid"/>
          </a:ln>
        </p:spPr>
      </p:sp>
      <p:sp>
        <p:nvSpPr>
          <p:cNvPr id="24" name="Text 22"/>
          <p:cNvSpPr/>
          <p:nvPr/>
        </p:nvSpPr>
        <p:spPr>
          <a:xfrm>
            <a:off x="2423160" y="397764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Pick Tool</a:t>
            </a:r>
            <a:endParaRPr lang="en-US" sz="1300" dirty="0"/>
          </a:p>
        </p:txBody>
      </p:sp>
      <p:sp>
        <p:nvSpPr>
          <p:cNvPr id="25" name="Text 23"/>
          <p:cNvSpPr/>
          <p:nvPr/>
        </p:nvSpPr>
        <p:spPr>
          <a:xfrm>
            <a:off x="3611880" y="3977640"/>
            <a:ext cx="411480" cy="54864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4023360" y="3977640"/>
            <a:ext cx="1188720" cy="548640"/>
          </a:xfrm>
          <a:prstGeom prst="roundRect">
            <a:avLst>
              <a:gd name="adj" fmla="val 25000"/>
            </a:avLst>
          </a:prstGeom>
          <a:solidFill>
            <a:srgbClr val="22C55E">
              <a:alpha val="85000"/>
            </a:srgbClr>
          </a:solidFill>
          <a:ln w="19050">
            <a:solidFill>
              <a:srgbClr val="22C55E"/>
            </a:solidFill>
            <a:prstDash val="solid"/>
          </a:ln>
        </p:spPr>
      </p:sp>
      <p:sp>
        <p:nvSpPr>
          <p:cNvPr id="27" name="Text 25"/>
          <p:cNvSpPr/>
          <p:nvPr/>
        </p:nvSpPr>
        <p:spPr>
          <a:xfrm>
            <a:off x="4023360" y="397764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Execute</a:t>
            </a:r>
            <a:endParaRPr lang="en-US" sz="1300" dirty="0"/>
          </a:p>
        </p:txBody>
      </p:sp>
      <p:sp>
        <p:nvSpPr>
          <p:cNvPr id="28" name="Text 26"/>
          <p:cNvSpPr/>
          <p:nvPr/>
        </p:nvSpPr>
        <p:spPr>
          <a:xfrm>
            <a:off x="5212080" y="3977640"/>
            <a:ext cx="411480" cy="54864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5623560" y="3977640"/>
            <a:ext cx="1188720" cy="548640"/>
          </a:xfrm>
          <a:prstGeom prst="roundRect">
            <a:avLst>
              <a:gd name="adj" fmla="val 25000"/>
            </a:avLst>
          </a:prstGeom>
          <a:solidFill>
            <a:srgbClr val="8B5CF6">
              <a:alpha val="85000"/>
            </a:srgbClr>
          </a:solidFill>
          <a:ln w="19050">
            <a:solidFill>
              <a:srgbClr val="8B5CF6"/>
            </a:solidFill>
            <a:prstDash val="solid"/>
          </a:ln>
        </p:spPr>
      </p:sp>
      <p:sp>
        <p:nvSpPr>
          <p:cNvPr id="30" name="Text 28"/>
          <p:cNvSpPr/>
          <p:nvPr/>
        </p:nvSpPr>
        <p:spPr>
          <a:xfrm>
            <a:off x="5623560" y="397764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Observe</a:t>
            </a:r>
            <a:endParaRPr lang="en-US" sz="1300" dirty="0"/>
          </a:p>
        </p:txBody>
      </p:sp>
      <p:sp>
        <p:nvSpPr>
          <p:cNvPr id="31" name="Text 29"/>
          <p:cNvSpPr/>
          <p:nvPr/>
        </p:nvSpPr>
        <p:spPr>
          <a:xfrm>
            <a:off x="7178040" y="3977640"/>
            <a:ext cx="1188720" cy="548640"/>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  Repeat</a:t>
            </a:r>
            <a:endParaRPr lang="en-US" sz="1400" dirty="0"/>
          </a:p>
        </p:txBody>
      </p:sp>
      <p:sp>
        <p:nvSpPr>
          <p:cNvPr id="32" name="Text 30"/>
          <p:cNvSpPr/>
          <p:nvPr/>
        </p:nvSpPr>
        <p:spPr>
          <a:xfrm>
            <a:off x="1005840" y="4617720"/>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Claude Agent SDK tools: Bash, Grep, Glob, Read, Write, Web Search  —  Subagents for parallel work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indent="0" marL="0">
              <a:buNone/>
            </a:pPr>
            <a:r>
              <a:rPr lang="en-US" sz="3000" b="1" dirty="0">
                <a:solidFill>
                  <a:srgbClr val="0F1729"/>
                </a:solidFill>
                <a:latin typeface="Trebuchet MS" pitchFamily="34" charset="0"/>
                <a:ea typeface="Trebuchet MS" pitchFamily="34" charset="-122"/>
                <a:cs typeface="Trebuchet MS" pitchFamily="34" charset="-120"/>
              </a:rPr>
              <a:t>What We've Built</a:t>
            </a:r>
            <a:endParaRPr lang="en-US" sz="3000" dirty="0"/>
          </a:p>
        </p:txBody>
      </p:sp>
      <p:sp>
        <p:nvSpPr>
          <p:cNvPr id="3" name="Shape 1"/>
          <p:cNvSpPr/>
          <p:nvPr/>
        </p:nvSpPr>
        <p:spPr>
          <a:xfrm>
            <a:off x="548640" y="1097280"/>
            <a:ext cx="2606040" cy="36576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4" name="Shape 2"/>
          <p:cNvSpPr/>
          <p:nvPr/>
        </p:nvSpPr>
        <p:spPr>
          <a:xfrm>
            <a:off x="548640" y="1097280"/>
            <a:ext cx="2606040" cy="54864"/>
          </a:xfrm>
          <a:prstGeom prst="rect">
            <a:avLst/>
          </a:prstGeom>
          <a:solidFill>
            <a:srgbClr val="0D9488"/>
          </a:solidFill>
          <a:ln/>
        </p:spPr>
      </p:sp>
      <p:sp>
        <p:nvSpPr>
          <p:cNvPr id="5" name="Text 3"/>
          <p:cNvSpPr/>
          <p:nvPr/>
        </p:nvSpPr>
        <p:spPr>
          <a:xfrm>
            <a:off x="777240" y="1325880"/>
            <a:ext cx="2148840" cy="411480"/>
          </a:xfrm>
          <a:prstGeom prst="rect">
            <a:avLst/>
          </a:prstGeom>
          <a:noFill/>
          <a:ln/>
        </p:spPr>
        <p:txBody>
          <a:bodyPr wrap="square" lIns="0" tIns="0" rIns="0" bIns="0" rtlCol="0" anchor="ctr"/>
          <a:lstStyle/>
          <a:p>
            <a:pPr indent="0" marL="0">
              <a:buNone/>
            </a:pPr>
            <a:r>
              <a:rPr lang="en-US" sz="2000" b="1" dirty="0">
                <a:solidFill>
                  <a:srgbClr val="0D9488"/>
                </a:solidFill>
                <a:latin typeface="Trebuchet MS" pitchFamily="34" charset="0"/>
                <a:ea typeface="Trebuchet MS" pitchFamily="34" charset="-122"/>
                <a:cs typeface="Trebuchet MS" pitchFamily="34" charset="-120"/>
              </a:rPr>
              <a:t>OpenCode</a:t>
            </a:r>
            <a:endParaRPr lang="en-US" sz="2000" dirty="0"/>
          </a:p>
        </p:txBody>
      </p:sp>
      <p:sp>
        <p:nvSpPr>
          <p:cNvPr id="6" name="Text 4"/>
          <p:cNvSpPr/>
          <p:nvPr/>
        </p:nvSpPr>
        <p:spPr>
          <a:xfrm>
            <a:off x="777240" y="1737360"/>
            <a:ext cx="2148840" cy="2743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Code Execution Engine</a:t>
            </a:r>
            <a:endParaRPr lang="en-US" sz="1100" dirty="0"/>
          </a:p>
        </p:txBody>
      </p:sp>
      <p:sp>
        <p:nvSpPr>
          <p:cNvPr id="7" name="Shape 5"/>
          <p:cNvSpPr/>
          <p:nvPr/>
        </p:nvSpPr>
        <p:spPr>
          <a:xfrm>
            <a:off x="777240" y="2103120"/>
            <a:ext cx="2148840" cy="0"/>
          </a:xfrm>
          <a:prstGeom prst="line">
            <a:avLst/>
          </a:prstGeom>
          <a:noFill/>
          <a:ln w="9525">
            <a:solidFill>
              <a:srgbClr val="E2E8F0"/>
            </a:solidFill>
            <a:prstDash val="solid"/>
          </a:ln>
        </p:spPr>
      </p:sp>
      <p:sp>
        <p:nvSpPr>
          <p:cNvPr id="8" name="Text 6"/>
          <p:cNvSpPr/>
          <p:nvPr/>
        </p:nvSpPr>
        <p:spPr>
          <a:xfrm>
            <a:off x="777240" y="2240280"/>
            <a:ext cx="2148840" cy="228600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SSH pain → HTTP service</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Always-on, port 4096, systemd</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REST API: POST /session/:id/message</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Any agent, any CI/CD, any developer</a:t>
            </a:r>
            <a:endParaRPr lang="en-US" sz="1100" dirty="0"/>
          </a:p>
          <a:p>
            <a:pPr marL="342900" indent="-342900">
              <a:lnSpc>
                <a:spcPct val="160000"/>
              </a:lnSpc>
              <a:buSzPct val="100000"/>
              <a:buChar char="•"/>
            </a:pPr>
            <a:r>
              <a:rPr lang="en-US" sz="1100" b="1" dirty="0">
                <a:solidFill>
                  <a:srgbClr val="0D9488"/>
                </a:solidFill>
                <a:latin typeface="Calibri" pitchFamily="34" charset="0"/>
                <a:ea typeface="Calibri" pitchFamily="34" charset="-122"/>
                <a:cs typeface="Calibri" pitchFamily="34" charset="-120"/>
              </a:rPr>
              <a:t>No SSH. No sudo. Just HTTP.</a:t>
            </a:r>
            <a:endParaRPr lang="en-US" sz="1100" dirty="0"/>
          </a:p>
        </p:txBody>
      </p:sp>
      <p:sp>
        <p:nvSpPr>
          <p:cNvPr id="9" name="Shape 7"/>
          <p:cNvSpPr/>
          <p:nvPr/>
        </p:nvSpPr>
        <p:spPr>
          <a:xfrm>
            <a:off x="3383280" y="1097280"/>
            <a:ext cx="2606040" cy="36576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0" name="Shape 8"/>
          <p:cNvSpPr/>
          <p:nvPr/>
        </p:nvSpPr>
        <p:spPr>
          <a:xfrm>
            <a:off x="3383280" y="1097280"/>
            <a:ext cx="2606040" cy="54864"/>
          </a:xfrm>
          <a:prstGeom prst="rect">
            <a:avLst/>
          </a:prstGeom>
          <a:solidFill>
            <a:srgbClr val="F59E0B"/>
          </a:solidFill>
          <a:ln/>
        </p:spPr>
      </p:sp>
      <p:sp>
        <p:nvSpPr>
          <p:cNvPr id="11" name="Text 9"/>
          <p:cNvSpPr/>
          <p:nvPr/>
        </p:nvSpPr>
        <p:spPr>
          <a:xfrm>
            <a:off x="3611880" y="1325880"/>
            <a:ext cx="2148840" cy="411480"/>
          </a:xfrm>
          <a:prstGeom prst="rect">
            <a:avLst/>
          </a:prstGeom>
          <a:noFill/>
          <a:ln/>
        </p:spPr>
        <p:txBody>
          <a:bodyPr wrap="square" lIns="0" tIns="0" rIns="0" bIns="0" rtlCol="0" anchor="ctr"/>
          <a:lstStyle/>
          <a:p>
            <a:pPr indent="0" marL="0">
              <a:buNone/>
            </a:pPr>
            <a:r>
              <a:rPr lang="en-US" sz="2000" b="1" dirty="0">
                <a:solidFill>
                  <a:srgbClr val="F59E0B"/>
                </a:solidFill>
                <a:latin typeface="Trebuchet MS" pitchFamily="34" charset="0"/>
                <a:ea typeface="Trebuchet MS" pitchFamily="34" charset="-122"/>
                <a:cs typeface="Trebuchet MS" pitchFamily="34" charset="-120"/>
              </a:rPr>
              <a:t>OpenCoWork</a:t>
            </a:r>
            <a:endParaRPr lang="en-US" sz="2000" dirty="0"/>
          </a:p>
        </p:txBody>
      </p:sp>
      <p:sp>
        <p:nvSpPr>
          <p:cNvPr id="12" name="Text 10"/>
          <p:cNvSpPr/>
          <p:nvPr/>
        </p:nvSpPr>
        <p:spPr>
          <a:xfrm>
            <a:off x="3611880" y="1737360"/>
            <a:ext cx="2148840" cy="2743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Domain Skills Layer</a:t>
            </a:r>
            <a:endParaRPr lang="en-US" sz="1100" dirty="0"/>
          </a:p>
        </p:txBody>
      </p:sp>
      <p:sp>
        <p:nvSpPr>
          <p:cNvPr id="13" name="Shape 11"/>
          <p:cNvSpPr/>
          <p:nvPr/>
        </p:nvSpPr>
        <p:spPr>
          <a:xfrm>
            <a:off x="3611880" y="2103120"/>
            <a:ext cx="2148840" cy="0"/>
          </a:xfrm>
          <a:prstGeom prst="line">
            <a:avLst/>
          </a:prstGeom>
          <a:noFill/>
          <a:ln w="9525">
            <a:solidFill>
              <a:srgbClr val="E2E8F0"/>
            </a:solidFill>
            <a:prstDash val="solid"/>
          </a:ln>
        </p:spPr>
      </p:sp>
      <p:sp>
        <p:nvSpPr>
          <p:cNvPr id="14" name="Text 12"/>
          <p:cNvSpPr/>
          <p:nvPr/>
        </p:nvSpPr>
        <p:spPr>
          <a:xfrm>
            <a:off x="3611880" y="2240280"/>
            <a:ext cx="2148840" cy="228600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Claude Agent SDK on K8s</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Reusable skills: Jira Reports, Tearsheets</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CapIQ MCP integration</a:t>
            </a:r>
            <a:endParaRPr lang="en-US" sz="1100" dirty="0"/>
          </a:p>
          <a:p>
            <a:pPr marL="342900" indent="-342900">
              <a:lnSpc>
                <a:spcPct val="160000"/>
              </a:lnSpc>
              <a:buSzPct val="100000"/>
              <a:buChar char="•"/>
            </a:pPr>
            <a:r>
              <a:rPr lang="en-US" sz="1100" b="1" dirty="0">
                <a:solidFill>
                  <a:srgbClr val="F59E0B"/>
                </a:solidFill>
                <a:latin typeface="Calibri" pitchFamily="34" charset="0"/>
                <a:ea typeface="Calibri" pitchFamily="34" charset="-122"/>
                <a:cs typeface="Calibri" pitchFamily="34" charset="-120"/>
              </a:rPr>
              <a:t>Target: centralized skills — org-level brain</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Any team contributes, any agent uses</a:t>
            </a:r>
            <a:endParaRPr lang="en-US" sz="1100" dirty="0"/>
          </a:p>
        </p:txBody>
      </p:sp>
      <p:sp>
        <p:nvSpPr>
          <p:cNvPr id="15" name="Shape 13"/>
          <p:cNvSpPr/>
          <p:nvPr/>
        </p:nvSpPr>
        <p:spPr>
          <a:xfrm>
            <a:off x="6217920" y="1097280"/>
            <a:ext cx="2606040" cy="36576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6" name="Shape 14"/>
          <p:cNvSpPr/>
          <p:nvPr/>
        </p:nvSpPr>
        <p:spPr>
          <a:xfrm>
            <a:off x="6217920" y="1097280"/>
            <a:ext cx="2606040" cy="54864"/>
          </a:xfrm>
          <a:prstGeom prst="rect">
            <a:avLst/>
          </a:prstGeom>
          <a:solidFill>
            <a:srgbClr val="8B5CF6"/>
          </a:solidFill>
          <a:ln/>
        </p:spPr>
      </p:sp>
      <p:sp>
        <p:nvSpPr>
          <p:cNvPr id="17" name="Text 15"/>
          <p:cNvSpPr/>
          <p:nvPr/>
        </p:nvSpPr>
        <p:spPr>
          <a:xfrm>
            <a:off x="6446520" y="1325880"/>
            <a:ext cx="2148840" cy="411480"/>
          </a:xfrm>
          <a:prstGeom prst="rect">
            <a:avLst/>
          </a:prstGeom>
          <a:noFill/>
          <a:ln/>
        </p:spPr>
        <p:txBody>
          <a:bodyPr wrap="square" lIns="0" tIns="0" rIns="0" bIns="0" rtlCol="0" anchor="ctr"/>
          <a:lstStyle/>
          <a:p>
            <a:pPr indent="0" marL="0">
              <a:buNone/>
            </a:pPr>
            <a:r>
              <a:rPr lang="en-US" sz="2000" b="1" dirty="0">
                <a:solidFill>
                  <a:srgbClr val="8B5CF6"/>
                </a:solidFill>
                <a:latin typeface="Trebuchet MS" pitchFamily="34" charset="0"/>
                <a:ea typeface="Trebuchet MS" pitchFamily="34" charset="-122"/>
                <a:cs typeface="Trebuchet MS" pitchFamily="34" charset="-120"/>
              </a:rPr>
              <a:t>OpenWork</a:t>
            </a:r>
            <a:endParaRPr lang="en-US" sz="2000" dirty="0"/>
          </a:p>
        </p:txBody>
      </p:sp>
      <p:sp>
        <p:nvSpPr>
          <p:cNvPr id="18" name="Text 16"/>
          <p:cNvSpPr/>
          <p:nvPr/>
        </p:nvSpPr>
        <p:spPr>
          <a:xfrm>
            <a:off x="6446520" y="1737360"/>
            <a:ext cx="2148840" cy="2743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Decoupled UI + Server</a:t>
            </a:r>
            <a:endParaRPr lang="en-US" sz="1100" dirty="0"/>
          </a:p>
        </p:txBody>
      </p:sp>
      <p:sp>
        <p:nvSpPr>
          <p:cNvPr id="19" name="Shape 17"/>
          <p:cNvSpPr/>
          <p:nvPr/>
        </p:nvSpPr>
        <p:spPr>
          <a:xfrm>
            <a:off x="6446520" y="2103120"/>
            <a:ext cx="2148840" cy="0"/>
          </a:xfrm>
          <a:prstGeom prst="line">
            <a:avLst/>
          </a:prstGeom>
          <a:noFill/>
          <a:ln w="9525">
            <a:solidFill>
              <a:srgbClr val="E2E8F0"/>
            </a:solidFill>
            <a:prstDash val="solid"/>
          </a:ln>
        </p:spPr>
      </p:sp>
      <p:sp>
        <p:nvSpPr>
          <p:cNvPr id="20" name="Text 18"/>
          <p:cNvSpPr/>
          <p:nvPr/>
        </p:nvSpPr>
        <p:spPr>
          <a:xfrm>
            <a:off x="6446520" y="2240280"/>
            <a:ext cx="2148840" cy="228600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UI pod + Execution pod (K8s)</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Communicates via REST APIs</a:t>
            </a:r>
            <a:endParaRPr lang="en-US" sz="1100" dirty="0"/>
          </a:p>
          <a:p>
            <a:pPr marL="342900" indent="-342900">
              <a:lnSpc>
                <a:spcPct val="160000"/>
              </a:lnSpc>
              <a:buSzPct val="100000"/>
              <a:buChar char="•"/>
            </a:pPr>
            <a:r>
              <a:rPr lang="en-US" sz="1100" b="1" dirty="0">
                <a:solidFill>
                  <a:srgbClr val="8B5CF6"/>
                </a:solidFill>
                <a:latin typeface="Calibri" pitchFamily="34" charset="0"/>
                <a:ea typeface="Calibri" pitchFamily="34" charset="-122"/>
                <a:cs typeface="Calibri" pitchFamily="34" charset="-120"/>
              </a:rPr>
              <a:t>New paradigm: UI driven by agent stack</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Backend evolves → UI gets more powerful</a:t>
            </a:r>
            <a:endParaRPr lang="en-US" sz="1100" dirty="0"/>
          </a:p>
          <a:p>
            <a:pPr marL="342900" indent="-342900">
              <a:lnSpc>
                <a:spcPct val="160000"/>
              </a:lnSpc>
              <a:buSzPct val="100000"/>
              <a:buChar char="•"/>
            </a:pPr>
            <a:r>
              <a:rPr lang="en-US" sz="1100" dirty="0">
                <a:solidFill>
                  <a:srgbClr val="0F1729"/>
                </a:solidFill>
                <a:latin typeface="Calibri" pitchFamily="34" charset="0"/>
                <a:ea typeface="Calibri" pitchFamily="34" charset="-122"/>
                <a:cs typeface="Calibri" pitchFamily="34" charset="-120"/>
              </a:rPr>
              <a:t>Future: Electron desktop, point to URL</a:t>
            </a:r>
            <a:endParaRPr lang="en-US" sz="1100" dirty="0"/>
          </a:p>
        </p:txBody>
      </p:sp>
      <p:sp>
        <p:nvSpPr>
          <p:cNvPr id="21" name="Text 19"/>
          <p:cNvSpPr/>
          <p:nvPr/>
        </p:nvSpPr>
        <p:spPr>
          <a:xfrm>
            <a:off x="548640" y="4846320"/>
            <a:ext cx="8046720" cy="22860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Architecture diagrams available for each project — see appendix</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Where We're Going</a:t>
            </a:r>
            <a:endParaRPr lang="en-US" sz="3000" dirty="0"/>
          </a:p>
        </p:txBody>
      </p:sp>
      <p:sp>
        <p:nvSpPr>
          <p:cNvPr id="4" name="Shape 2"/>
          <p:cNvSpPr/>
          <p:nvPr/>
        </p:nvSpPr>
        <p:spPr>
          <a:xfrm>
            <a:off x="731520" y="1051560"/>
            <a:ext cx="7680960" cy="1051560"/>
          </a:xfrm>
          <a:prstGeom prst="rect">
            <a:avLst/>
          </a:prstGeom>
          <a:solidFill>
            <a:srgbClr val="1B2A4A"/>
          </a:solidFill>
          <a:ln/>
        </p:spPr>
      </p:sp>
      <p:sp>
        <p:nvSpPr>
          <p:cNvPr id="5" name="Shape 3"/>
          <p:cNvSpPr/>
          <p:nvPr/>
        </p:nvSpPr>
        <p:spPr>
          <a:xfrm>
            <a:off x="731520" y="1051560"/>
            <a:ext cx="64008" cy="1051560"/>
          </a:xfrm>
          <a:prstGeom prst="rect">
            <a:avLst/>
          </a:prstGeom>
          <a:solidFill>
            <a:srgbClr val="0D9488"/>
          </a:solidFill>
          <a:ln/>
        </p:spPr>
      </p:sp>
      <p:sp>
        <p:nvSpPr>
          <p:cNvPr id="6" name="Text 4"/>
          <p:cNvSpPr/>
          <p:nvPr/>
        </p:nvSpPr>
        <p:spPr>
          <a:xfrm>
            <a:off x="1051560" y="1143000"/>
            <a:ext cx="594360" cy="868680"/>
          </a:xfrm>
          <a:prstGeom prst="rect">
            <a:avLst/>
          </a:prstGeom>
          <a:noFill/>
          <a:ln/>
        </p:spPr>
        <p:txBody>
          <a:bodyPr wrap="square" lIns="0" tIns="0" rIns="0" bIns="0" rtlCol="0" anchor="ctr"/>
          <a:lstStyle/>
          <a:p>
            <a:pPr indent="0" marL="0">
              <a:buNone/>
            </a:pPr>
            <a:r>
              <a:rPr lang="en-US" sz="2800" b="1" dirty="0">
                <a:solidFill>
                  <a:srgbClr val="0D9488"/>
                </a:solidFill>
                <a:latin typeface="Trebuchet MS" pitchFamily="34" charset="0"/>
                <a:ea typeface="Trebuchet MS" pitchFamily="34" charset="-122"/>
                <a:cs typeface="Trebuchet MS" pitchFamily="34" charset="-120"/>
              </a:rPr>
              <a:t>01</a:t>
            </a:r>
            <a:endParaRPr lang="en-US" sz="2800" dirty="0"/>
          </a:p>
        </p:txBody>
      </p:sp>
      <p:sp>
        <p:nvSpPr>
          <p:cNvPr id="7" name="Text 5"/>
          <p:cNvSpPr/>
          <p:nvPr/>
        </p:nvSpPr>
        <p:spPr>
          <a:xfrm>
            <a:off x="1691640" y="114300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Agent Sandboxes on K8s</a:t>
            </a:r>
            <a:endParaRPr lang="en-US" sz="1600" dirty="0"/>
          </a:p>
        </p:txBody>
      </p:sp>
      <p:sp>
        <p:nvSpPr>
          <p:cNvPr id="8" name="Text 6"/>
          <p:cNvSpPr/>
          <p:nvPr/>
        </p:nvSpPr>
        <p:spPr>
          <a:xfrm>
            <a:off x="1691640" y="1490472"/>
            <a:ext cx="6400800" cy="548640"/>
          </a:xfrm>
          <a:prstGeom prst="rect">
            <a:avLst/>
          </a:prstGeom>
          <a:noFill/>
          <a:ln/>
        </p:spPr>
        <p:txBody>
          <a:bodyPr wrap="square" lIns="0" tIns="0" rIns="0" bIns="0" rtlCol="0" anchor="ctr"/>
          <a:lstStyle/>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Ephemeral, isolated environments per task.</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Spin up, execute, destroy. True multi-tenancy.</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50 agents in parallel — just spin up 50 pods.</a:t>
            </a:r>
            <a:endParaRPr lang="en-US" sz="1100" dirty="0"/>
          </a:p>
        </p:txBody>
      </p:sp>
      <p:sp>
        <p:nvSpPr>
          <p:cNvPr id="9" name="Shape 7"/>
          <p:cNvSpPr/>
          <p:nvPr/>
        </p:nvSpPr>
        <p:spPr>
          <a:xfrm>
            <a:off x="731520" y="2286000"/>
            <a:ext cx="7680960" cy="1051560"/>
          </a:xfrm>
          <a:prstGeom prst="rect">
            <a:avLst/>
          </a:prstGeom>
          <a:solidFill>
            <a:srgbClr val="1B2A4A"/>
          </a:solidFill>
          <a:ln/>
        </p:spPr>
      </p:sp>
      <p:sp>
        <p:nvSpPr>
          <p:cNvPr id="10" name="Shape 8"/>
          <p:cNvSpPr/>
          <p:nvPr/>
        </p:nvSpPr>
        <p:spPr>
          <a:xfrm>
            <a:off x="731520" y="2286000"/>
            <a:ext cx="64008" cy="1051560"/>
          </a:xfrm>
          <a:prstGeom prst="rect">
            <a:avLst/>
          </a:prstGeom>
          <a:solidFill>
            <a:srgbClr val="F59E0B"/>
          </a:solidFill>
          <a:ln/>
        </p:spPr>
      </p:sp>
      <p:sp>
        <p:nvSpPr>
          <p:cNvPr id="11" name="Text 9"/>
          <p:cNvSpPr/>
          <p:nvPr/>
        </p:nvSpPr>
        <p:spPr>
          <a:xfrm>
            <a:off x="1051560" y="2377440"/>
            <a:ext cx="594360" cy="868680"/>
          </a:xfrm>
          <a:prstGeom prst="rect">
            <a:avLst/>
          </a:prstGeom>
          <a:noFill/>
          <a:ln/>
        </p:spPr>
        <p:txBody>
          <a:bodyPr wrap="square" lIns="0" tIns="0" rIns="0" bIns="0" rtlCol="0" anchor="ctr"/>
          <a:lstStyle/>
          <a:p>
            <a:pPr indent="0" marL="0">
              <a:buNone/>
            </a:pPr>
            <a:r>
              <a:rPr lang="en-US" sz="2800" b="1" dirty="0">
                <a:solidFill>
                  <a:srgbClr val="F59E0B"/>
                </a:solidFill>
                <a:latin typeface="Trebuchet MS" pitchFamily="34" charset="0"/>
                <a:ea typeface="Trebuchet MS" pitchFamily="34" charset="-122"/>
                <a:cs typeface="Trebuchet MS" pitchFamily="34" charset="-120"/>
              </a:rPr>
              <a:t>02</a:t>
            </a:r>
            <a:endParaRPr lang="en-US" sz="2800" dirty="0"/>
          </a:p>
        </p:txBody>
      </p:sp>
      <p:sp>
        <p:nvSpPr>
          <p:cNvPr id="12" name="Text 10"/>
          <p:cNvSpPr/>
          <p:nvPr/>
        </p:nvSpPr>
        <p:spPr>
          <a:xfrm>
            <a:off x="1691640" y="237744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Gas Town — Multi-Agent Orchestration</a:t>
            </a:r>
            <a:endParaRPr lang="en-US" sz="1600" dirty="0"/>
          </a:p>
        </p:txBody>
      </p:sp>
      <p:sp>
        <p:nvSpPr>
          <p:cNvPr id="13" name="Text 11"/>
          <p:cNvSpPr/>
          <p:nvPr/>
        </p:nvSpPr>
        <p:spPr>
          <a:xfrm>
            <a:off x="1691640" y="2724912"/>
            <a:ext cx="6400800" cy="548640"/>
          </a:xfrm>
          <a:prstGeom prst="rect">
            <a:avLst/>
          </a:prstGeom>
          <a:noFill/>
          <a:ln/>
        </p:spPr>
        <p:txBody>
          <a:bodyPr wrap="square" lIns="0" tIns="0" rIns="0" bIns="0" rtlCol="0" anchor="ctr"/>
          <a:lstStyle/>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"Kubernetes for agents" — asks 'is it done?' not 'is it running?'</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Mayor coordinates, Polecats execute, Refinery merges.</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K8s operator exists. Anthropic building same patterns natively.</a:t>
            </a:r>
            <a:endParaRPr lang="en-US" sz="1100" dirty="0"/>
          </a:p>
        </p:txBody>
      </p:sp>
      <p:sp>
        <p:nvSpPr>
          <p:cNvPr id="14" name="Shape 12"/>
          <p:cNvSpPr/>
          <p:nvPr/>
        </p:nvSpPr>
        <p:spPr>
          <a:xfrm>
            <a:off x="731520" y="3520440"/>
            <a:ext cx="7680960" cy="1051560"/>
          </a:xfrm>
          <a:prstGeom prst="rect">
            <a:avLst/>
          </a:prstGeom>
          <a:solidFill>
            <a:srgbClr val="1B2A4A"/>
          </a:solidFill>
          <a:ln/>
        </p:spPr>
      </p:sp>
      <p:sp>
        <p:nvSpPr>
          <p:cNvPr id="15" name="Shape 13"/>
          <p:cNvSpPr/>
          <p:nvPr/>
        </p:nvSpPr>
        <p:spPr>
          <a:xfrm>
            <a:off x="731520" y="3520440"/>
            <a:ext cx="64008" cy="1051560"/>
          </a:xfrm>
          <a:prstGeom prst="rect">
            <a:avLst/>
          </a:prstGeom>
          <a:solidFill>
            <a:srgbClr val="22C55E"/>
          </a:solidFill>
          <a:ln/>
        </p:spPr>
      </p:sp>
      <p:sp>
        <p:nvSpPr>
          <p:cNvPr id="16" name="Text 14"/>
          <p:cNvSpPr/>
          <p:nvPr/>
        </p:nvSpPr>
        <p:spPr>
          <a:xfrm>
            <a:off x="1051560" y="3611880"/>
            <a:ext cx="594360" cy="868680"/>
          </a:xfrm>
          <a:prstGeom prst="rect">
            <a:avLst/>
          </a:prstGeom>
          <a:noFill/>
          <a:ln/>
        </p:spPr>
        <p:txBody>
          <a:bodyPr wrap="square" lIns="0" tIns="0" rIns="0" bIns="0" rtlCol="0" anchor="ctr"/>
          <a:lstStyle/>
          <a:p>
            <a:pPr indent="0" marL="0">
              <a:buNone/>
            </a:pPr>
            <a:r>
              <a:rPr lang="en-US" sz="2800" b="1" dirty="0">
                <a:solidFill>
                  <a:srgbClr val="22C55E"/>
                </a:solidFill>
                <a:latin typeface="Trebuchet MS" pitchFamily="34" charset="0"/>
                <a:ea typeface="Trebuchet MS" pitchFamily="34" charset="-122"/>
                <a:cs typeface="Trebuchet MS" pitchFamily="34" charset="-120"/>
              </a:rPr>
              <a:t>03</a:t>
            </a:r>
            <a:endParaRPr lang="en-US" sz="2800" dirty="0"/>
          </a:p>
        </p:txBody>
      </p:sp>
      <p:sp>
        <p:nvSpPr>
          <p:cNvPr id="17" name="Text 15"/>
          <p:cNvSpPr/>
          <p:nvPr/>
        </p:nvSpPr>
        <p:spPr>
          <a:xfrm>
            <a:off x="1691640" y="361188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Organizational Knowledge</a:t>
            </a:r>
            <a:endParaRPr lang="en-US" sz="1600" dirty="0"/>
          </a:p>
        </p:txBody>
      </p:sp>
      <p:sp>
        <p:nvSpPr>
          <p:cNvPr id="18" name="Text 16"/>
          <p:cNvSpPr/>
          <p:nvPr/>
        </p:nvSpPr>
        <p:spPr>
          <a:xfrm>
            <a:off x="1691640" y="3959352"/>
            <a:ext cx="6400800" cy="548640"/>
          </a:xfrm>
          <a:prstGeom prst="rect">
            <a:avLst/>
          </a:prstGeom>
          <a:noFill/>
          <a:ln/>
        </p:spPr>
        <p:txBody>
          <a:bodyPr wrap="square" lIns="0" tIns="0" rIns="0" bIns="0" rtlCol="0" anchor="ctr"/>
          <a:lstStyle/>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Every completed task becomes a lesson learned.</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Auto-inject relevant past work into agent context.</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Goal: never repeat a mistake the org already made.</a:t>
            </a:r>
            <a:endParaRPr lang="en-US" sz="1100" dirty="0"/>
          </a:p>
        </p:txBody>
      </p:sp>
      <p:sp>
        <p:nvSpPr>
          <p:cNvPr id="19" name="Shape 17"/>
          <p:cNvSpPr/>
          <p:nvPr/>
        </p:nvSpPr>
        <p:spPr>
          <a:xfrm>
            <a:off x="731520" y="4572000"/>
            <a:ext cx="7680960" cy="0"/>
          </a:xfrm>
          <a:prstGeom prst="line">
            <a:avLst/>
          </a:prstGeom>
          <a:noFill/>
          <a:ln w="12700">
            <a:solidFill>
              <a:srgbClr val="1B2A4A"/>
            </a:solidFill>
            <a:prstDash val="solid"/>
          </a:ln>
        </p:spPr>
      </p:sp>
      <p:sp>
        <p:nvSpPr>
          <p:cNvPr id="20" name="Text 18"/>
          <p:cNvSpPr/>
          <p:nvPr/>
        </p:nvSpPr>
        <p:spPr>
          <a:xfrm>
            <a:off x="731520" y="4663440"/>
            <a:ext cx="7680960" cy="36576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Direction: </a:t>
            </a:r>
            <a:pPr indent="0" marL="0">
              <a:buNone/>
            </a:pPr>
            <a:r>
              <a:rPr lang="en-US" sz="1100" dirty="0">
                <a:solidFill>
                  <a:srgbClr val="94A3B8"/>
                </a:solidFill>
                <a:latin typeface="Calibri" pitchFamily="34" charset="0"/>
                <a:ea typeface="Calibri" pitchFamily="34" charset="-122"/>
                <a:cs typeface="Calibri" pitchFamily="34" charset="-120"/>
              </a:rPr>
              <a:t>Follow the community. Evaluate with discipline.   </a:t>
            </a:r>
            <a:pPr indent="0" marL="0">
              <a:buNone/>
            </a:pPr>
            <a:r>
              <a:rPr lang="en-US" sz="1100" b="1" dirty="0">
                <a:solidFill>
                  <a:srgbClr val="F59E0B"/>
                </a:solidFill>
                <a:latin typeface="Calibri" pitchFamily="34" charset="0"/>
                <a:ea typeface="Calibri" pitchFamily="34" charset="-122"/>
                <a:cs typeface="Calibri" pitchFamily="34" charset="-120"/>
              </a:rPr>
              <a:t>Projects: </a:t>
            </a:r>
            <a:pPr indent="0" marL="0">
              <a:buNone/>
            </a:pPr>
            <a:r>
              <a:rPr lang="en-US" sz="1100" dirty="0">
                <a:solidFill>
                  <a:srgbClr val="94A3B8"/>
                </a:solidFill>
                <a:latin typeface="Calibri" pitchFamily="34" charset="0"/>
                <a:ea typeface="Calibri" pitchFamily="34" charset="-122"/>
                <a:cs typeface="Calibri" pitchFamily="34" charset="-120"/>
              </a:rPr>
              <a:t>Execution + Skills + Decoupled UI.   </a:t>
            </a:r>
            <a:pPr indent="0" marL="0">
              <a:buNone/>
            </a:pPr>
            <a:r>
              <a:rPr lang="en-US" sz="1100" b="1" dirty="0">
                <a:solidFill>
                  <a:srgbClr val="22C55E"/>
                </a:solidFill>
                <a:latin typeface="Calibri" pitchFamily="34" charset="0"/>
                <a:ea typeface="Calibri" pitchFamily="34" charset="-122"/>
                <a:cs typeface="Calibri" pitchFamily="34" charset="-120"/>
              </a:rPr>
              <a:t>Forward: </a:t>
            </a:r>
            <a:pPr indent="0" marL="0">
              <a:buNone/>
            </a:pPr>
            <a:r>
              <a:rPr lang="en-US" sz="1100" dirty="0">
                <a:solidFill>
                  <a:srgbClr val="94A3B8"/>
                </a:solidFill>
                <a:latin typeface="Calibri" pitchFamily="34" charset="0"/>
                <a:ea typeface="Calibri" pitchFamily="34" charset="-122"/>
                <a:cs typeface="Calibri" pitchFamily="34" charset="-120"/>
              </a:rPr>
              <a:t>Sandboxes + Orchestration + Org Knowledge.</a:t>
            </a:r>
            <a:endParaRPr lang="en-US" sz="1100" dirty="0"/>
          </a:p>
        </p:txBody>
      </p:sp>
      <p:sp>
        <p:nvSpPr>
          <p:cNvPr id="21" name="Shape 19"/>
          <p:cNvSpPr/>
          <p:nvPr/>
        </p:nvSpPr>
        <p:spPr>
          <a:xfrm>
            <a:off x="0" y="5088636"/>
            <a:ext cx="9144000" cy="54864"/>
          </a:xfrm>
          <a:prstGeom prst="rect">
            <a:avLst/>
          </a:prstGeom>
          <a:solidFill>
            <a:srgbClr val="0D9488"/>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Stream: Direction, Projects, Forward Look</dc:title>
  <dc:subject>PptxGenJS Presentation</dc:subject>
  <dc:creator>Innovation Stream</dc:creator>
  <cp:lastModifiedBy>Innovation Stream</cp:lastModifiedBy>
  <cp:revision>1</cp:revision>
  <dcterms:created xsi:type="dcterms:W3CDTF">2026-02-17T01:38:05Z</dcterms:created>
  <dcterms:modified xsi:type="dcterms:W3CDTF">2026-02-17T01:38:05Z</dcterms:modified>
</cp:coreProperties>
</file>